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88952" cy="64008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0C027"/>
                </a:solidFill>
              </a:rPr>
              <a:t>競馬AIを自作してみた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EE"/>
                </a:solidFill>
              </a:rPr>
              <a:t>〜 Python × 機械学習 × 実データ 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ABBCC"/>
                </a:solidFill>
              </a:rPr>
              <a:t>JRA-VANデータ  ×  LightGBM  ×  LambdaMART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AABBCC"/>
                </a:solidFill>
              </a:rPr>
              <a:t>2026.3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一言で言うと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出馬表を渡すだけで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C027"/>
                </a:solidFill>
              </a:rPr>
              <a:t>自動で予想PDFが出てくる仕組みを作った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3383280" cy="128016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80B9"/>
                </a:solidFill>
              </a:rPr>
              <a:t>📄 出馬表CSV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3657600"/>
            <a:ext cx="3383280" cy="128016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374903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7AE60"/>
                </a:solidFill>
              </a:rPr>
              <a:t>🤖 AI予測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3657600"/>
            <a:ext cx="3383280" cy="128016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3749039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📑 PDF出力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97763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97763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1663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BBCC"/>
                </a:solidFill>
              </a:rPr>
              <a:t>毎週全自動で実行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使ったデータ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9496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39496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980B9"/>
                </a:solidFill>
              </a:rPr>
              <a:t>約20年分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JRA-VANレースデータ（2005〜2026）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39496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3949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7AE60"/>
                </a:solidFill>
              </a:rPr>
              <a:t>約66万頭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学習データ（2013〜2025年）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39496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39496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67E22"/>
                </a:solidFill>
              </a:rPr>
              <a:t>272列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1頭あたりの特徴量数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566160"/>
            <a:ext cx="539496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5394960" cy="73152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C027"/>
                </a:solidFill>
              </a:rPr>
              <a:t>約1.3GB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特徴量CSV（parquet圧縮で219MB）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使った技術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09728" cy="7498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155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全体の基盤・データ処理・自動化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1247120" cy="7498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0972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</a:rPr>
              <a:t>pandas / numpy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8424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データ処理・特徴量エンジニアリング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47120" cy="7498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109728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5292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勝率予測（勾配ブースティング・分類器）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11879"/>
            <a:ext cx="11247120" cy="7498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79"/>
            <a:ext cx="109728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</a:rPr>
              <a:t>LambdaMART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21607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レース内順位予測（学習ランキング）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1247120" cy="7498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109728" cy="749808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C027"/>
                </a:solidFill>
              </a:rPr>
              <a:t>python-pptx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9028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このスライド自体をPythonで自動生成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11247120" cy="749808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349240"/>
            <a:ext cx="109728" cy="74980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4067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ABBCC"/>
                </a:solidFill>
              </a:rPr>
              <a:t>Chrome Headless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458968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HTML → PDF自動変換（毎週の予想出力）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AIモデルの仕組み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23774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3327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2F"/>
                </a:solidFill>
              </a:rPr>
              <a:t>Step 1：LightGBM（分類）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各馬の「単勝確率」を計算
騎手勝率・調教師勝率・距離適性・
近走成績など272特徴量を入力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116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→  両方の結果を統合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005840"/>
            <a:ext cx="5120640" cy="2377440"/>
          </a:xfrm>
          <a:prstGeom prst="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1005840"/>
            <a:ext cx="512064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033271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52F"/>
                </a:solidFill>
              </a:rPr>
              <a:t>Step 2：LambdaMART（ランキング）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レース内の「着順」を最適化
同じレースの馬同士を正しく
順位付けするように学習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27"/>
                </a:solidFill>
              </a:rPr>
              <a:t>2種類のモデルを並走させる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5303520" cy="2286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</a:rPr>
              <a:t>🟢 距離モデル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会場 × 距離 のキーで学習
例: 中山ダート1200m専用モデル
（コース適性を重視）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206240"/>
            <a:ext cx="5120640" cy="2286000"/>
          </a:xfrm>
          <a:prstGeom prst="rect">
            <a:avLst/>
          </a:prstGeom>
          <a:solidFill>
            <a:srgbClr val="1A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80B9"/>
                </a:solidFill>
              </a:rPr>
              <a:t>🔵 クラスモデル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8006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芝ダ × 距離帯 × クラス のキーで学習
例: ダート短距離・未勝利専用モデル
（クラス適性を重視）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C027"/>
                </a:solidFill>
              </a:rPr>
              <a:t>両モデルでランカー1位 → 本命候補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印（マーク）システム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5394960"/>
          </a:xfrm>
          <a:prstGeom prst="rect">
            <a:avLst/>
          </a:prstGeom>
          <a:solidFill>
            <a:srgbClr val="2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743200" cy="1005840"/>
          </a:xfrm>
          <a:prstGeom prst="rect">
            <a:avLst/>
          </a:prstGeom>
          <a:solidFill>
            <a:srgbClr val="B741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激熱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両モデルでランカー1位
combo_gap≥15
偏差値差≥10
オッズ3倍以上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743200" cy="5394960"/>
          </a:xfrm>
          <a:prstGeom prst="rect">
            <a:avLst/>
          </a:prstGeom>
          <a:solidFill>
            <a:srgbClr val="18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743200" cy="1005840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005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4884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両モデルでランカー1位
combo_gap≥10
オッズ3倍以上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05840"/>
            <a:ext cx="2743200" cy="5394960"/>
          </a:xfrm>
          <a:prstGeom prst="rect">
            <a:avLst/>
          </a:prstGeom>
          <a:solidFill>
            <a:srgbClr val="18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27432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005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両モデルでランカー1位
combo_gap＜10
オッズ3倍以上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005840"/>
            <a:ext cx="2743200" cy="5394960"/>
          </a:xfrm>
          <a:prstGeom prst="rect">
            <a:avLst/>
          </a:prstGeom>
          <a:solidFill>
            <a:srgbClr val="10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005840"/>
            <a:ext cx="2743200" cy="10058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005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148840"/>
            <a:ext cx="2468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片方が2〜3位・もう片方も
3位以内に入っている
オッズ5倍以上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ABBCC"/>
                </a:solidFill>
              </a:rPr>
              <a:t>両モデル一致が鍵。片方だけでは買わない。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検証結果（2026年 実データ out-of-sample）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BCC"/>
                </a:solidFill>
              </a:rPr>
              <a:t>学習データと完全に切り分けた2026年のリアルデータで検証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27"/>
                </a:solidFill>
              </a:rPr>
              <a:t>戦略条件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27"/>
                </a:solidFill>
              </a:rPr>
              <a:t>頭数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C027"/>
                </a:solidFill>
              </a:rPr>
              <a:t>単勝ROI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713232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両Rnk=1（オッズ制限なし）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5740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339頭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3911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</a:rPr>
              <a:t>+21.4%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11247120" cy="713232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両Rnk=1  &amp;  オッズ3倍以上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8803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169頭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6207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</a:rPr>
              <a:t>+52.7%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11247120" cy="713232"/>
          </a:xfrm>
          <a:prstGeom prst="rect">
            <a:avLst/>
          </a:prstGeom>
          <a:solidFill>
            <a:srgbClr val="25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137160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両Rnk=1  &amp;  odds≥3  &amp;  偏差値差≥10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70332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 62頭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68503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7AE60"/>
                </a:solidFill>
              </a:rPr>
              <a:t>+127.3%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11247120" cy="713232"/>
          </a:xfrm>
          <a:prstGeom prst="rect">
            <a:avLst/>
          </a:prstGeom>
          <a:solidFill>
            <a:srgbClr val="25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137160" cy="713232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79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穴馬: combo_rank=2  &amp;  両Rnk≤3  &amp;  odds≥5  &amp;  偏差値差≥10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526279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29頭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50799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C027"/>
                </a:solidFill>
              </a:rPr>
              <a:t>+183.4%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57800"/>
            <a:ext cx="11247120" cy="713232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492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392B"/>
                </a:solidFill>
              </a:rPr>
              <a:t>旧ルール（odds≥5  &amp;  偏差値差≥20）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22頭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33095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0392B"/>
                </a:solidFill>
              </a:rPr>
              <a:t>-71.4%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ABBCC"/>
                </a:solidFill>
              </a:rPr>
              <a:t>※ JRAの控除率は約25%。ROI+21%でも競馬場平均の期待値の約2倍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こだわりポイント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94960" cy="2423160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8872" cy="2423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</a:rPr>
              <a:t>時系列リーク対策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学習データ（〜2025年末）と検証データ（2026年〜）を完全分離。
未来のデータが学習に混入しないよう厳格に管理。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05840"/>
            <a:ext cx="5394960" cy="2423160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118872" cy="2423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430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</a:rPr>
              <a:t>全自動パイプライン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出馬表CSVを渡すだけで特徴量生成 → モデル予測 → HTML/PDF出力まで全自動。
実運用で毎週使えるシステム。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03320"/>
            <a:ext cx="5394960" cy="2423160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18872" cy="2423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</a:rPr>
              <a:t>データ品質アラート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地方競馬前走・海外帰り馬・特徴量欠損を自動検出してPDFに警告表示。
最終判断は人間が行うハイブリッド運用。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03320"/>
            <a:ext cx="5394960" cy="2423160"/>
          </a:xfrm>
          <a:prstGeom prst="rect">
            <a:avLst/>
          </a:prstGeom>
          <a:solidFill>
            <a:srgbClr val="2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703320"/>
            <a:ext cx="118872" cy="2423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980B9"/>
                </a:solidFill>
              </a:rPr>
              <a:t>2モデル並走 &amp; 多角検証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34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距離特化モデル・クラス特化モデルの2つを常に並走。
両方が一致した場合のみ推奨とすることで精度向上。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開発規模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74320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7432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7AE60"/>
                </a:solidFill>
              </a:rPr>
              <a:t>20本+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Pythonスクリプト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74320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743200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980B9"/>
                </a:solidFill>
              </a:rPr>
              <a:t>272列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1頭あたり特徴量数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05840"/>
            <a:ext cx="274320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274320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</a:rPr>
              <a:t>約66万頭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学習データ規模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005840"/>
            <a:ext cx="2743200" cy="2103120"/>
          </a:xfrm>
          <a:prstGeom prst="rect">
            <a:avLst/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005840"/>
            <a:ext cx="2743200" cy="73152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1430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C027"/>
                </a:solidFill>
              </a:rPr>
              <a:t>100本+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031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学習済みモデル数
（コース×クラス別）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C027"/>
                </a:solidFill>
              </a:rPr>
              <a:t>開発者について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47120" cy="3657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7763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✅  プログラミング歴は長くない（開発初心者〜中級者）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45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✅  機械学習の専門家ではない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1266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✅  それでも実用レベルのAIシステムを構築・毎週運用できている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0175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✅  Claude AIとの対話を活用しながら設計・デバッグ・改善を継続中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06040"/>
            <a:ext cx="12188952" cy="64008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C027"/>
                </a:solidFill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F0C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📄→📑  CSVを渡すだけで予想PDFが出る実用システムを構築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7AE60"/>
                </a:solidFill>
              </a:rPr>
              <a:t>🧠  LightGBM + LambdaMARTの2段階AIを自作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C027"/>
                </a:solidFill>
              </a:rPr>
              <a:t>📈  2026年リアルデータで単勝ROI +127% を記録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980B9"/>
                </a:solidFill>
              </a:rPr>
              <a:t>🛡️  データ品質チェック・時系列リーク対策まで実装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7E22"/>
                </a:solidFill>
              </a:rPr>
              <a:t>🔧  初心者でも「動き続ける実用システム」を作れる時代になった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BBCC"/>
                </a:solidFill>
              </a:rPr>
              <a:t>「作ること」より「動き続けること」にこだわった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